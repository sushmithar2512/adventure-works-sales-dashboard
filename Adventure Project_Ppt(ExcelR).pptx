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75" r:id="rId5"/>
    <p:sldId id="274" r:id="rId6"/>
    <p:sldId id="270" r:id="rId7"/>
    <p:sldId id="271" r:id="rId8"/>
    <p:sldId id="272" r:id="rId9"/>
    <p:sldId id="273" r:id="rId10"/>
    <p:sldId id="266" r:id="rId11"/>
    <p:sldId id="267" r:id="rId12"/>
  </p:sldIdLst>
  <p:sldSz cx="18288000" cy="10287000"/>
  <p:notesSz cx="6858000" cy="9144000"/>
  <p:embeddedFontLst>
    <p:embeddedFont>
      <p:font typeface="Cormorant Garamond Bold Italics" panose="020B0604020202020204" charset="0"/>
      <p:regular r:id="rId14"/>
      <p:bold r:id="rId15"/>
      <p:italic r:id="rId16"/>
      <p:boldItalic r:id="rId17"/>
    </p:embeddedFont>
    <p:embeddedFont>
      <p:font typeface="Quicksan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 autoAdjust="0"/>
    <p:restoredTop sz="94614" autoAdjust="0"/>
  </p:normalViewPr>
  <p:slideViewPr>
    <p:cSldViewPr>
      <p:cViewPr varScale="1">
        <p:scale>
          <a:sx n="58" d="100"/>
          <a:sy n="58" d="100"/>
        </p:scale>
        <p:origin x="37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54F61-CA4F-ED4D-8FC8-580A1D8348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A22D2-AD80-3046-8251-867375155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6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A22D2-AD80-3046-8251-867375155C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2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2478342"/>
            <a:ext cx="16229942" cy="304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50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37539" y="5908475"/>
            <a:ext cx="12812922" cy="167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  <a:spcBef>
                <a:spcPct val="0"/>
              </a:spcBef>
            </a:pPr>
            <a:endParaRPr lang="en-US" sz="8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endParaRPr lang="en-US" sz="4889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5241" y="6869178"/>
            <a:ext cx="9900709" cy="1095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F4662"/>
                </a:solidFill>
                <a:latin typeface="Times New Roman" panose="02020603050405020304" pitchFamily="18" charset="0"/>
                <a:ea typeface="Quicksand"/>
                <a:cs typeface="Times New Roman" panose="02020603050405020304" pitchFamily="18" charset="0"/>
                <a:sym typeface="Quicksand"/>
              </a:rPr>
              <a:t>Adventure Works Sales Dashboard </a:t>
            </a:r>
          </a:p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600" dirty="0">
                <a:solidFill>
                  <a:srgbClr val="0F4662"/>
                </a:solidFill>
                <a:latin typeface="Times New Roman" panose="02020603050405020304" pitchFamily="18" charset="0"/>
                <a:ea typeface="Quicksand"/>
                <a:cs typeface="Times New Roman" panose="02020603050405020304" pitchFamily="18" charset="0"/>
                <a:sym typeface="Quicksand"/>
              </a:rPr>
              <a:t>02 March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2179" y="1967581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 group 1</a:t>
            </a:r>
          </a:p>
        </p:txBody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629637"/>
            <a:ext cx="15506700" cy="3154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ts val="407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Quicksand"/>
              </a:rPr>
              <a:t>Analyze sales performance</a:t>
            </a:r>
          </a:p>
          <a:p>
            <a:pPr marL="457200" lvl="0" indent="-457200">
              <a:lnSpc>
                <a:spcPts val="407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Quicksand"/>
              </a:rPr>
              <a:t>Create KPIs (Sales, Profit, Orders)</a:t>
            </a:r>
          </a:p>
          <a:p>
            <a:pPr marL="457200" lvl="0" indent="-457200">
              <a:lnSpc>
                <a:spcPts val="407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Quicksand"/>
              </a:rPr>
              <a:t>Build dashboards using different tools</a:t>
            </a:r>
          </a:p>
          <a:p>
            <a:pPr marL="457200" lvl="0" indent="-457200">
              <a:lnSpc>
                <a:spcPts val="407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Quicksand"/>
              </a:rPr>
              <a:t>Compare tool performance</a:t>
            </a:r>
          </a:p>
          <a:p>
            <a:pPr lvl="0">
              <a:lnSpc>
                <a:spcPts val="4079"/>
              </a:lnSpc>
            </a:pPr>
            <a:endParaRPr lang="en-US" sz="3500" dirty="0">
              <a:solidFill>
                <a:srgbClr val="0F4662"/>
              </a:solidFill>
              <a:latin typeface="Quicksand"/>
              <a:sym typeface="Quicksand"/>
            </a:endParaRPr>
          </a:p>
          <a:p>
            <a:pPr marL="457200" lvl="0" indent="-457200">
              <a:lnSpc>
                <a:spcPts val="4079"/>
              </a:lnSpc>
              <a:buFont typeface="Arial" panose="020B0604020202020204" pitchFamily="34" charset="0"/>
              <a:buChar char="•"/>
            </a:pPr>
            <a:endParaRPr lang="en-US" sz="3500" dirty="0">
              <a:solidFill>
                <a:srgbClr val="0F4662"/>
              </a:solidFill>
              <a:latin typeface="Quicksand"/>
              <a:sym typeface="Quicksan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Objective</a:t>
            </a:r>
          </a:p>
        </p:txBody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599709"/>
            <a:ext cx="9390243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039400"/>
            <a:ext cx="12611100" cy="381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Sales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used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FactSales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DimCustomer, DimProduct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DimCustomer – 18,485 rows, 29 columns</a:t>
            </a:r>
          </a:p>
          <a:p>
            <a:endParaRPr lang="en-US" sz="3200" dirty="0">
              <a:solidFill>
                <a:srgbClr val="0F4662"/>
              </a:solidFill>
              <a:latin typeface="Quicksand"/>
            </a:endParaRPr>
          </a:p>
          <a:p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endParaRPr lang="en-US" sz="24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DDD07-9288-21BA-8254-2D6247FD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8FDCEF-7073-F2F3-190D-CF4A1A585CCF}"/>
              </a:ext>
            </a:extLst>
          </p:cNvPr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B6D0CB-AFA2-3A12-39D3-1FDA054CC997}"/>
                </a:ext>
              </a:extLst>
            </p:cNvPr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21320C5-B36E-4648-459C-D18D6D79FB3B}"/>
                </a:ext>
              </a:extLst>
            </p:cNvPr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5CE1E2F-5145-97A3-97C8-5362CEF34316}"/>
              </a:ext>
            </a:extLst>
          </p:cNvPr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2B728C-E2FC-FE7D-CAED-A0F851A9262F}"/>
              </a:ext>
            </a:extLst>
          </p:cNvPr>
          <p:cNvSpPr txBox="1"/>
          <p:nvPr/>
        </p:nvSpPr>
        <p:spPr>
          <a:xfrm>
            <a:off x="1028700" y="599709"/>
            <a:ext cx="9390243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KPIs Created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308A1E5-815D-F03D-ABE8-C27F031AFB58}"/>
              </a:ext>
            </a:extLst>
          </p:cNvPr>
          <p:cNvSpPr txBox="1"/>
          <p:nvPr/>
        </p:nvSpPr>
        <p:spPr>
          <a:xfrm>
            <a:off x="2933700" y="3039400"/>
            <a:ext cx="81153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%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Products</a:t>
            </a:r>
          </a:p>
          <a:p>
            <a:endParaRPr lang="en-US" sz="3200" dirty="0">
              <a:solidFill>
                <a:srgbClr val="0F4662"/>
              </a:solidFill>
              <a:latin typeface="Quicksand"/>
            </a:endParaRPr>
          </a:p>
          <a:p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endParaRPr lang="en-US" sz="24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62513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BB18-9FD3-7C84-E608-1B52F49E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153EE32-A599-C58D-53FA-20A8A87CE97A}"/>
              </a:ext>
            </a:extLst>
          </p:cNvPr>
          <p:cNvSpPr txBox="1"/>
          <p:nvPr/>
        </p:nvSpPr>
        <p:spPr>
          <a:xfrm>
            <a:off x="228600" y="2324101"/>
            <a:ext cx="6356881" cy="33567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Imported Excel data into MySQL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Created </a:t>
            </a: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</a:t>
            </a: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ables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Used JOIN queries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Generated aggregated results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6EA4B24-93E9-B3AE-1164-3E599F036381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B2C6BB8-E6D9-06F9-28F2-82496962D8DF}"/>
              </a:ext>
            </a:extLst>
          </p:cNvPr>
          <p:cNvSpPr/>
          <p:nvPr/>
        </p:nvSpPr>
        <p:spPr>
          <a:xfrm>
            <a:off x="930350" y="834135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FA0FB7-F80D-44F6-E294-BC1B8EF66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481" y="1409699"/>
            <a:ext cx="11092919" cy="6931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CD79FA-F6F0-1EEC-FA3D-AD8DCC4D8E7B}"/>
              </a:ext>
            </a:extLst>
          </p:cNvPr>
          <p:cNvSpPr txBox="1"/>
          <p:nvPr/>
        </p:nvSpPr>
        <p:spPr>
          <a:xfrm>
            <a:off x="228600" y="372306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Data preparation using MySQL </a:t>
            </a:r>
          </a:p>
        </p:txBody>
      </p:sp>
    </p:spTree>
    <p:extLst>
      <p:ext uri="{BB962C8B-B14F-4D97-AF65-F5344CB8AC3E}">
        <p14:creationId xmlns:p14="http://schemas.microsoft.com/office/powerpoint/2010/main" val="280089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B4D5-A53D-1704-911D-9A1B9F96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3808DB6-4C99-9001-9176-DDECFD243C3C}"/>
              </a:ext>
            </a:extLst>
          </p:cNvPr>
          <p:cNvSpPr txBox="1"/>
          <p:nvPr/>
        </p:nvSpPr>
        <p:spPr>
          <a:xfrm>
            <a:off x="228600" y="3086099"/>
            <a:ext cx="6356881" cy="259478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KPI cards</a:t>
            </a:r>
            <a:endParaRPr lang="en-US" sz="3600" kern="12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Slicers</a:t>
            </a:r>
            <a:endParaRPr lang="en-US" sz="3600" kern="12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DAX measures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Interactive visuals</a:t>
            </a:r>
            <a:endParaRPr lang="en-US" sz="3600" kern="12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4A9DDFE-3AC8-2C0A-AF00-0B3CC246D56B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90A8A3B-7A6C-6135-2730-F9EF5DCE1FD8}"/>
              </a:ext>
            </a:extLst>
          </p:cNvPr>
          <p:cNvSpPr/>
          <p:nvPr/>
        </p:nvSpPr>
        <p:spPr>
          <a:xfrm>
            <a:off x="930350" y="834135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1B18C-E860-0C98-3926-6B088578A49C}"/>
              </a:ext>
            </a:extLst>
          </p:cNvPr>
          <p:cNvSpPr txBox="1"/>
          <p:nvPr/>
        </p:nvSpPr>
        <p:spPr>
          <a:xfrm>
            <a:off x="228600" y="372306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Power BI Dashboard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103FC2-1C84-1467-5714-1E898FEE3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080192"/>
            <a:ext cx="12763500" cy="72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1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2260-6B5E-B799-D195-9348818A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0BBDA37-D98A-8EF4-8912-D62D131B515A}"/>
              </a:ext>
            </a:extLst>
          </p:cNvPr>
          <p:cNvSpPr txBox="1"/>
          <p:nvPr/>
        </p:nvSpPr>
        <p:spPr>
          <a:xfrm>
            <a:off x="228600" y="3086099"/>
            <a:ext cx="6356881" cy="25947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Interactive dashboard with filters</a:t>
            </a:r>
            <a:endParaRPr lang="en-US" sz="3900" kern="12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Drag &amp; drop interface for quick visualization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9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Real time data analysis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4D11F73-15D9-28F5-1222-9F78E100F82B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A44EBED-0C18-8547-A5D1-0F591C1B6CDC}"/>
              </a:ext>
            </a:extLst>
          </p:cNvPr>
          <p:cNvSpPr/>
          <p:nvPr/>
        </p:nvSpPr>
        <p:spPr>
          <a:xfrm>
            <a:off x="930350" y="834135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256A9-ADB6-D940-1688-A15C8B7B1077}"/>
              </a:ext>
            </a:extLst>
          </p:cNvPr>
          <p:cNvSpPr txBox="1"/>
          <p:nvPr/>
        </p:nvSpPr>
        <p:spPr>
          <a:xfrm>
            <a:off x="228600" y="372306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Tableau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E28D1-38F2-352F-15E3-C70B4D87A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080193"/>
            <a:ext cx="11934826" cy="726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43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87E4-6C4B-16FB-B294-04A19067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65C5114-DB4D-416B-E8F5-D544100EC337}"/>
              </a:ext>
            </a:extLst>
          </p:cNvPr>
          <p:cNvSpPr txBox="1"/>
          <p:nvPr/>
        </p:nvSpPr>
        <p:spPr>
          <a:xfrm>
            <a:off x="228600" y="3086099"/>
            <a:ext cx="6356881" cy="259478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Pivot tables</a:t>
            </a:r>
            <a:endParaRPr lang="en-US" sz="3600" kern="12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Charts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filtering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User - friendly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55EBFDA-7E43-95D0-232B-2B9A0A0A9414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B9ABA26-DC17-2F1E-3235-611A8AE744DA}"/>
              </a:ext>
            </a:extLst>
          </p:cNvPr>
          <p:cNvSpPr/>
          <p:nvPr/>
        </p:nvSpPr>
        <p:spPr>
          <a:xfrm>
            <a:off x="930350" y="834135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04A73-8B30-DECF-C2BB-34483CE8419F}"/>
              </a:ext>
            </a:extLst>
          </p:cNvPr>
          <p:cNvSpPr txBox="1"/>
          <p:nvPr/>
        </p:nvSpPr>
        <p:spPr>
          <a:xfrm>
            <a:off x="228600" y="372306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Excel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D9675-4179-EACE-89A4-840AE12B7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1333500"/>
            <a:ext cx="13605140" cy="700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4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4A9A-805F-0863-5363-71563251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B82E444-0966-0542-4521-A23ACA9A4D26}"/>
              </a:ext>
            </a:extLst>
          </p:cNvPr>
          <p:cNvSpPr txBox="1"/>
          <p:nvPr/>
        </p:nvSpPr>
        <p:spPr>
          <a:xfrm>
            <a:off x="228600" y="3086099"/>
            <a:ext cx="17030700" cy="4343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i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D0F622D-C8FC-CF2C-F15F-E9765A910BD5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75BC1C1-5C0B-A0F8-A941-86332367928C}"/>
              </a:ext>
            </a:extLst>
          </p:cNvPr>
          <p:cNvSpPr/>
          <p:nvPr/>
        </p:nvSpPr>
        <p:spPr>
          <a:xfrm>
            <a:off x="930350" y="834135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3FF2F-8C38-46F4-E2AE-B0F92238272A}"/>
              </a:ext>
            </a:extLst>
          </p:cNvPr>
          <p:cNvSpPr txBox="1"/>
          <p:nvPr/>
        </p:nvSpPr>
        <p:spPr>
          <a:xfrm>
            <a:off x="228600" y="372306"/>
            <a:ext cx="1432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Tool Comparison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4E4FAB-6217-9BC7-5EE8-DDF6D00D8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92557"/>
              </p:ext>
            </p:extLst>
          </p:nvPr>
        </p:nvGraphicFramePr>
        <p:xfrm>
          <a:off x="1219200" y="1409700"/>
          <a:ext cx="14360103" cy="6793273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53402909"/>
                    </a:ext>
                  </a:extLst>
                </a:gridCol>
                <a:gridCol w="2587737">
                  <a:extLst>
                    <a:ext uri="{9D8B030D-6E8A-4147-A177-3AD203B41FA5}">
                      <a16:colId xmlns:a16="http://schemas.microsoft.com/office/drawing/2014/main" val="4219807093"/>
                    </a:ext>
                  </a:extLst>
                </a:gridCol>
                <a:gridCol w="3009722">
                  <a:extLst>
                    <a:ext uri="{9D8B030D-6E8A-4147-A177-3AD203B41FA5}">
                      <a16:colId xmlns:a16="http://schemas.microsoft.com/office/drawing/2014/main" val="851670236"/>
                    </a:ext>
                  </a:extLst>
                </a:gridCol>
                <a:gridCol w="3009722">
                  <a:extLst>
                    <a:ext uri="{9D8B030D-6E8A-4147-A177-3AD203B41FA5}">
                      <a16:colId xmlns:a16="http://schemas.microsoft.com/office/drawing/2014/main" val="3126370783"/>
                    </a:ext>
                  </a:extLst>
                </a:gridCol>
                <a:gridCol w="3009722">
                  <a:extLst>
                    <a:ext uri="{9D8B030D-6E8A-4147-A177-3AD203B41FA5}">
                      <a16:colId xmlns:a16="http://schemas.microsoft.com/office/drawing/2014/main" val="3056806072"/>
                    </a:ext>
                  </a:extLst>
                </a:gridCol>
              </a:tblGrid>
              <a:tr h="79801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Tableau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en-US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76875"/>
                  </a:ext>
                </a:extLst>
              </a:tr>
              <a:tr h="841878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BI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Basic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367715"/>
                  </a:ext>
                </a:extLst>
              </a:tr>
              <a:tr h="1077876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Handles Large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260892"/>
                  </a:ext>
                </a:extLst>
              </a:tr>
              <a:tr h="1077876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No</a:t>
                      </a:r>
                    </a:p>
                    <a:p>
                      <a:pPr algn="l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Basic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004110"/>
                  </a:ext>
                </a:extLst>
              </a:tr>
              <a:tr h="1077876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Data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080615"/>
                  </a:ext>
                </a:extLst>
              </a:tr>
              <a:tr h="841878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Free/Desktop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Paid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080629"/>
                  </a:ext>
                </a:extLst>
              </a:tr>
              <a:tr h="1077876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Best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Business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Attractive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Quick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944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20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9709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6255" y="4117481"/>
            <a:ext cx="10655487" cy="379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best for backend data management.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is best for business intelligence reporting.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is best for visualization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is suitable for small-scale analysis.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algn="ctr"/>
            <a:endParaRPr lang="en-US" sz="2400" dirty="0">
              <a:solidFill>
                <a:srgbClr val="0F4662"/>
              </a:solidFill>
              <a:latin typeface="Quicksand"/>
            </a:endParaRPr>
          </a:p>
          <a:p>
            <a:pPr marL="0" lvl="0" indent="0">
              <a:lnSpc>
                <a:spcPts val="4079"/>
              </a:lnSpc>
            </a:pPr>
            <a:endParaRPr lang="en-US" sz="24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220</Words>
  <Application>Microsoft Office PowerPoint</Application>
  <PresentationFormat>Custom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Wingdings</vt:lpstr>
      <vt:lpstr>Times New Roman</vt:lpstr>
      <vt:lpstr>Calibri</vt:lpstr>
      <vt:lpstr>Arial</vt:lpstr>
      <vt:lpstr>Cormorant Garamond Bold Italics</vt:lpstr>
      <vt:lpstr>Quicksand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cp:lastModifiedBy>RAKSHITHA RATHNAKAR</cp:lastModifiedBy>
  <cp:revision>39</cp:revision>
  <dcterms:created xsi:type="dcterms:W3CDTF">2006-08-16T00:00:00Z</dcterms:created>
  <dcterms:modified xsi:type="dcterms:W3CDTF">2026-05-20T14:31:43Z</dcterms:modified>
  <dc:identifier>DAGv9uHUi6Y</dc:identifier>
</cp:coreProperties>
</file>